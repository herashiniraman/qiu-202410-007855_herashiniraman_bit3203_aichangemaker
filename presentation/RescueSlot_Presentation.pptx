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Agrandir Bold" charset="1" panose="00000800000000000000"/>
      <p:regular r:id="rId17"/>
    </p:embeddedFont>
    <p:embeddedFont>
      <p:font typeface="Agrandir" charset="1" panose="00000500000000000000"/>
      <p:regular r:id="rId18"/>
    </p:embeddedFont>
    <p:embeddedFont>
      <p:font typeface="Times New Roman Bold" charset="1" panose="02020803070505020304"/>
      <p:regular r:id="rId19"/>
    </p:embeddedFont>
    <p:embeddedFont>
      <p:font typeface="Times New Roman" charset="1" panose="020206030504050203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6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jpe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28" r="0" b="-882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06649" y="-65257"/>
            <a:ext cx="10675733" cy="106757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65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8847" y="826941"/>
            <a:ext cx="8891337" cy="8891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9000"/>
                  </a:srgbClr>
                </a:gs>
                <a:gs pos="100000">
                  <a:srgbClr val="FFFFFF">
                    <a:alpha val="4602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1711209"/>
            <a:ext cx="7122801" cy="71228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solidFill>
              <a:srgbClr val="2258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30693" y="3009763"/>
            <a:ext cx="8464450" cy="351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6999">
                <a:solidFill>
                  <a:srgbClr val="3584D0"/>
                </a:solidFill>
                <a:latin typeface="Anton"/>
                <a:ea typeface="Anton"/>
                <a:cs typeface="Anton"/>
                <a:sym typeface="Anton"/>
              </a:rPr>
              <a:t>RESCUESLOT:</a:t>
            </a:r>
          </a:p>
          <a:p>
            <a:pPr algn="ctr">
              <a:lnSpc>
                <a:spcPts val="7139"/>
              </a:lnSpc>
            </a:pPr>
            <a:r>
              <a:rPr lang="en-US" sz="6999">
                <a:solidFill>
                  <a:srgbClr val="3584D0"/>
                </a:solidFill>
                <a:latin typeface="Anton"/>
                <a:ea typeface="Anton"/>
                <a:cs typeface="Anton"/>
                <a:sym typeface="Anton"/>
              </a:rPr>
              <a:t>Intelligent Food Rescue Pickup Schedule</a:t>
            </a:r>
          </a:p>
          <a:p>
            <a:pPr algn="ctr">
              <a:lnSpc>
                <a:spcPts val="61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350552" y="5911904"/>
            <a:ext cx="4824731" cy="120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b="true" sz="1899" spc="742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PREPARED BY:</a:t>
            </a:r>
          </a:p>
          <a:p>
            <a:pPr algn="ctr">
              <a:lnSpc>
                <a:spcPts val="1842"/>
              </a:lnSpc>
            </a:pPr>
            <a:r>
              <a:rPr lang="en-US" b="true" sz="1899" spc="742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 HERASHINI RAMAN</a:t>
            </a:r>
          </a:p>
          <a:p>
            <a:pPr algn="ctr">
              <a:lnSpc>
                <a:spcPts val="1842"/>
              </a:lnSpc>
            </a:pPr>
            <a:r>
              <a:rPr lang="en-US" b="true" sz="1899" spc="742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 QIU-202410-007855</a:t>
            </a:r>
          </a:p>
          <a:p>
            <a:pPr algn="ctr">
              <a:lnSpc>
                <a:spcPts val="1842"/>
              </a:lnSpc>
            </a:pPr>
            <a:r>
              <a:rPr lang="en-US" b="true" sz="1899" spc="742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BIT3203</a:t>
            </a:r>
          </a:p>
          <a:p>
            <a:pPr algn="ctr">
              <a:lnSpc>
                <a:spcPts val="184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313748" y="7740407"/>
            <a:ext cx="4861536" cy="52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899">
                <a:solidFill>
                  <a:srgbClr val="22588D"/>
                </a:solidFill>
                <a:latin typeface="Agrandir"/>
                <a:ea typeface="Agrandir"/>
                <a:cs typeface="Agrandir"/>
                <a:sym typeface="Agrandir"/>
              </a:rPr>
              <a:t>AI Method:</a:t>
            </a:r>
          </a:p>
          <a:p>
            <a:pPr algn="ctr">
              <a:lnSpc>
                <a:spcPts val="1842"/>
              </a:lnSpc>
            </a:pPr>
            <a:r>
              <a:rPr lang="en-US" sz="1899">
                <a:solidFill>
                  <a:srgbClr val="22588D"/>
                </a:solidFill>
                <a:latin typeface="Agrandir"/>
                <a:ea typeface="Agrandir"/>
                <a:cs typeface="Agrandir"/>
                <a:sym typeface="Agrandir"/>
              </a:rPr>
              <a:t> Constraint Satisfaction Problem (CSP)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850" y="1028700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26882" y="3050071"/>
            <a:ext cx="3683366" cy="4114800"/>
          </a:xfrm>
          <a:custGeom>
            <a:avLst/>
            <a:gdLst/>
            <a:ahLst/>
            <a:cxnLst/>
            <a:rect r="r" b="b" t="t" l="l"/>
            <a:pathLst>
              <a:path h="4114800" w="3683366">
                <a:moveTo>
                  <a:pt x="0" y="0"/>
                </a:moveTo>
                <a:lnTo>
                  <a:pt x="3683366" y="0"/>
                </a:lnTo>
                <a:lnTo>
                  <a:pt x="36833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483904"/>
            <a:ext cx="6105749" cy="202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32286" y="3589845"/>
            <a:ext cx="5779403" cy="452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Problem</a:t>
            </a:r>
          </a:p>
          <a:p>
            <a:pPr algn="l">
              <a:lnSpc>
                <a:spcPts val="2380"/>
              </a:lnSpc>
            </a:pPr>
            <a:r>
              <a:rPr lang="en-US" sz="20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Food wastage remains a challenge as restaurants and cafes often have excess food at the end of the day.</a:t>
            </a:r>
          </a:p>
          <a:p>
            <a:pPr algn="l">
              <a:lnSpc>
                <a:spcPts val="2380"/>
              </a:lnSpc>
            </a:pPr>
            <a:r>
              <a:rPr lang="en-US" sz="20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At the same time, food rescue organisations depend on volunteers to collect and distribute donated food.</a:t>
            </a:r>
          </a:p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However arranging pickups is difficult because:</a:t>
            </a:r>
          </a:p>
          <a:p>
            <a:pPr algn="l" marL="431801" indent="-215900" lvl="1">
              <a:lnSpc>
                <a:spcPts val="2380"/>
              </a:lnSpc>
              <a:buFont typeface="Arial"/>
              <a:buChar char="•"/>
            </a:pPr>
            <a:r>
              <a:rPr lang="en-US" sz="20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Volunteers have different availability times</a:t>
            </a:r>
          </a:p>
          <a:p>
            <a:pPr algn="l" marL="431801" indent="-215900" lvl="1">
              <a:lnSpc>
                <a:spcPts val="2380"/>
              </a:lnSpc>
              <a:buFont typeface="Arial"/>
              <a:buChar char="•"/>
            </a:pPr>
            <a:r>
              <a:rPr lang="en-US" sz="20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Vehicles have different capacity limits</a:t>
            </a:r>
          </a:p>
          <a:p>
            <a:pPr algn="l" marL="431801" indent="-215900" lvl="1">
              <a:lnSpc>
                <a:spcPts val="2380"/>
              </a:lnSpc>
              <a:buFont typeface="Arial"/>
              <a:buChar char="•"/>
            </a:pPr>
            <a:r>
              <a:rPr lang="en-US" sz="20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Food must be collected before expiry</a:t>
            </a:r>
          </a:p>
          <a:p>
            <a:pPr algn="l">
              <a:lnSpc>
                <a:spcPts val="2380"/>
              </a:lnSpc>
            </a:pPr>
            <a:r>
              <a:rPr lang="en-US" sz="20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This creates a scheduling problem that requires multiple constraints to be considered.</a:t>
            </a:r>
          </a:p>
          <a:p>
            <a:pPr algn="l">
              <a:lnSpc>
                <a:spcPts val="190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4063674" y="74561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99742" y="7796907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66134" y="1173271"/>
            <a:ext cx="1915440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RESCUESLOT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5648" y="4060503"/>
            <a:ext cx="6544410" cy="373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99" b="true">
                <a:solidFill>
                  <a:srgbClr val="FC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RescueSlot</a:t>
            </a:r>
          </a:p>
          <a:p>
            <a:pPr algn="l">
              <a:lnSpc>
                <a:spcPts val="2736"/>
              </a:lnSpc>
            </a:pPr>
            <a:r>
              <a:rPr lang="en-US" sz="2299">
                <a:solidFill>
                  <a:srgbClr val="FCFE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RescueSlot is an AI-based food rescue pickup scheduler that helps assign volunteers to pickup tasks.</a:t>
            </a:r>
          </a:p>
          <a:p>
            <a:pPr algn="l">
              <a:lnSpc>
                <a:spcPts val="2974"/>
              </a:lnSpc>
            </a:pPr>
            <a:r>
              <a:rPr lang="en-US" sz="2499" b="true">
                <a:solidFill>
                  <a:srgbClr val="FC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system:</a:t>
            </a:r>
          </a:p>
          <a:p>
            <a:pPr algn="l" marL="496567" indent="-248284" lvl="1">
              <a:lnSpc>
                <a:spcPts val="2736"/>
              </a:lnSpc>
              <a:buFont typeface="Arial"/>
              <a:buChar char="•"/>
            </a:pPr>
            <a:r>
              <a:rPr lang="en-US" sz="2299">
                <a:solidFill>
                  <a:srgbClr val="FCFE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Matches food pickups with suitable volunteers</a:t>
            </a:r>
          </a:p>
          <a:p>
            <a:pPr algn="l" marL="496567" indent="-248284" lvl="1">
              <a:lnSpc>
                <a:spcPts val="2736"/>
              </a:lnSpc>
              <a:buFont typeface="Arial"/>
              <a:buChar char="•"/>
            </a:pPr>
            <a:r>
              <a:rPr lang="en-US" sz="2299">
                <a:solidFill>
                  <a:srgbClr val="FCFE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Checks volunteer availability</a:t>
            </a:r>
          </a:p>
          <a:p>
            <a:pPr algn="l" marL="496567" indent="-248284" lvl="1">
              <a:lnSpc>
                <a:spcPts val="2736"/>
              </a:lnSpc>
              <a:buFont typeface="Arial"/>
              <a:buChar char="•"/>
            </a:pPr>
            <a:r>
              <a:rPr lang="en-US" sz="2299">
                <a:solidFill>
                  <a:srgbClr val="FCFE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Checks vehicle capacity</a:t>
            </a:r>
          </a:p>
          <a:p>
            <a:pPr algn="l" marL="496567" indent="-248284" lvl="1">
              <a:lnSpc>
                <a:spcPts val="2736"/>
              </a:lnSpc>
              <a:buFont typeface="Arial"/>
              <a:buChar char="•"/>
            </a:pPr>
            <a:r>
              <a:rPr lang="en-US" sz="2299">
                <a:solidFill>
                  <a:srgbClr val="FCFE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Generates a valid pickup schedule automatically</a:t>
            </a:r>
          </a:p>
          <a:p>
            <a:pPr algn="l">
              <a:lnSpc>
                <a:spcPts val="2736"/>
              </a:lnSpc>
            </a:pPr>
            <a:r>
              <a:rPr lang="en-US" sz="2299">
                <a:solidFill>
                  <a:srgbClr val="FCFE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goal is to make food rescue coordination easier and reduce food wastage.</a:t>
            </a:r>
          </a:p>
          <a:p>
            <a:pPr algn="l">
              <a:lnSpc>
                <a:spcPts val="190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063674" y="74561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9742" y="7796907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312404" y="1777240"/>
            <a:ext cx="7125934" cy="7125934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24572" t="0" r="-2457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87576" y="2840274"/>
            <a:ext cx="7822958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850" y="1028700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332" y="1592475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55332" y="7035564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9203" y="1927347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0" y="0"/>
                </a:moveTo>
                <a:lnTo>
                  <a:pt x="7315200" y="0"/>
                </a:lnTo>
                <a:lnTo>
                  <a:pt x="7315200" y="1596044"/>
                </a:lnTo>
                <a:lnTo>
                  <a:pt x="0" y="1596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67761" y="2276353"/>
            <a:ext cx="8211760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AI TECHNIQUE USED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256294" y="2283434"/>
            <a:ext cx="6288363" cy="6288363"/>
            <a:chOff x="0" y="0"/>
            <a:chExt cx="14840029" cy="14840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0"/>
              <a:stretch>
                <a:fillRect l="223" t="-2728" r="223" b="-47645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318837" y="27253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6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889171" y="3495774"/>
            <a:ext cx="572873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CONSTRAINT SATISFACTION PROBLEM (CSP)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20320" y="4038539"/>
            <a:ext cx="7559533" cy="51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399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project uses:</a:t>
            </a:r>
          </a:p>
          <a:p>
            <a:pPr algn="l">
              <a:lnSpc>
                <a:spcPts val="2855"/>
              </a:lnSpc>
            </a:pPr>
          </a:p>
          <a:p>
            <a:pPr algn="l">
              <a:lnSpc>
                <a:spcPts val="2379"/>
              </a:lnSpc>
            </a:pPr>
            <a:r>
              <a:rPr lang="en-US" sz="1999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CSP with Backtracking Search and MRV Heuristic</a:t>
            </a:r>
          </a:p>
          <a:p>
            <a:pPr algn="l">
              <a:lnSpc>
                <a:spcPts val="2379"/>
              </a:lnSpc>
            </a:pPr>
          </a:p>
          <a:p>
            <a:pPr algn="l">
              <a:lnSpc>
                <a:spcPts val="2379"/>
              </a:lnSpc>
            </a:pPr>
            <a:r>
              <a:rPr lang="en-US" sz="1999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CSP Components:</a:t>
            </a:r>
          </a:p>
          <a:p>
            <a:pPr algn="l">
              <a:lnSpc>
                <a:spcPts val="2142"/>
              </a:lnSpc>
            </a:pPr>
            <a:r>
              <a:rPr lang="en-US" sz="1800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Variables</a:t>
            </a:r>
          </a:p>
          <a:p>
            <a:pPr algn="l" marL="345441" indent="-172721" lvl="1">
              <a:lnSpc>
                <a:spcPts val="1904"/>
              </a:lnSpc>
              <a:buFont typeface="Arial"/>
              <a:buChar char="•"/>
            </a:pPr>
            <a:r>
              <a:rPr lang="en-US" sz="16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Food pickup tasks</a:t>
            </a:r>
          </a:p>
          <a:p>
            <a:pPr algn="l">
              <a:lnSpc>
                <a:spcPts val="1904"/>
              </a:lnSpc>
            </a:pPr>
          </a:p>
          <a:p>
            <a:pPr algn="l">
              <a:lnSpc>
                <a:spcPts val="2142"/>
              </a:lnSpc>
            </a:pPr>
            <a:r>
              <a:rPr lang="en-US" sz="1800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Domains</a:t>
            </a:r>
          </a:p>
          <a:p>
            <a:pPr algn="l" marL="345441" indent="-172721" lvl="1">
              <a:lnSpc>
                <a:spcPts val="1904"/>
              </a:lnSpc>
              <a:buFont typeface="Arial"/>
              <a:buChar char="•"/>
            </a:pPr>
            <a:r>
              <a:rPr lang="en-US" sz="16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Available volunteers</a:t>
            </a:r>
          </a:p>
          <a:p>
            <a:pPr algn="l">
              <a:lnSpc>
                <a:spcPts val="1904"/>
              </a:lnSpc>
            </a:pPr>
          </a:p>
          <a:p>
            <a:pPr algn="l">
              <a:lnSpc>
                <a:spcPts val="2142"/>
              </a:lnSpc>
            </a:pPr>
            <a:r>
              <a:rPr lang="en-US" sz="1800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Constraints</a:t>
            </a:r>
          </a:p>
          <a:p>
            <a:pPr algn="l" marL="345441" indent="-172721" lvl="1">
              <a:lnSpc>
                <a:spcPts val="1904"/>
              </a:lnSpc>
              <a:buFont typeface="Arial"/>
              <a:buChar char="•"/>
            </a:pPr>
            <a:r>
              <a:rPr lang="en-US" sz="16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Volunteer availability</a:t>
            </a:r>
          </a:p>
          <a:p>
            <a:pPr algn="l" marL="345441" indent="-172721" lvl="1">
              <a:lnSpc>
                <a:spcPts val="1904"/>
              </a:lnSpc>
              <a:buFont typeface="Arial"/>
              <a:buChar char="•"/>
            </a:pPr>
            <a:r>
              <a:rPr lang="en-US" sz="16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Vehicle capacity</a:t>
            </a:r>
          </a:p>
          <a:p>
            <a:pPr algn="l" marL="345441" indent="-172721" lvl="1">
              <a:lnSpc>
                <a:spcPts val="1904"/>
              </a:lnSpc>
              <a:buFont typeface="Arial"/>
              <a:buChar char="•"/>
            </a:pPr>
            <a:r>
              <a:rPr lang="en-US" sz="16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Pickup requirements</a:t>
            </a:r>
          </a:p>
          <a:p>
            <a:pPr algn="l">
              <a:lnSpc>
                <a:spcPts val="1904"/>
              </a:lnSpc>
            </a:pPr>
          </a:p>
          <a:p>
            <a:pPr algn="l">
              <a:lnSpc>
                <a:spcPts val="1904"/>
              </a:lnSpc>
            </a:pPr>
          </a:p>
          <a:p>
            <a:pPr algn="l">
              <a:lnSpc>
                <a:spcPts val="1904"/>
              </a:lnSpc>
            </a:pPr>
            <a:r>
              <a:rPr lang="en-US" sz="16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The system searches for assignments that satisfy all constraints.</a:t>
            </a:r>
          </a:p>
          <a:p>
            <a:pPr algn="l">
              <a:lnSpc>
                <a:spcPts val="190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850" y="1028700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69330" y="4633246"/>
            <a:ext cx="7205001" cy="4132701"/>
            <a:chOff x="0" y="0"/>
            <a:chExt cx="7981950" cy="4578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01070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8"/>
              <a:stretch>
                <a:fillRect l="0" t="-3228" r="0" b="-3228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-660608" y="7599791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4063674" y="74561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77064" y="1028700"/>
            <a:ext cx="5939287" cy="1490221"/>
          </a:xfrm>
          <a:custGeom>
            <a:avLst/>
            <a:gdLst/>
            <a:ahLst/>
            <a:cxnLst/>
            <a:rect r="r" b="b" t="t" l="l"/>
            <a:pathLst>
              <a:path h="1490221" w="5939287">
                <a:moveTo>
                  <a:pt x="0" y="0"/>
                </a:moveTo>
                <a:lnTo>
                  <a:pt x="5939286" y="0"/>
                </a:lnTo>
                <a:lnTo>
                  <a:pt x="5939286" y="1490221"/>
                </a:lnTo>
                <a:lnTo>
                  <a:pt x="0" y="14902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00742" y="1186689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26850" y="3362159"/>
            <a:ext cx="6105749" cy="81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1"/>
              </a:lnSpc>
            </a:pPr>
            <a:r>
              <a:rPr lang="en-US" sz="60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SYSTEM WORKFLOW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6134" y="1019175"/>
            <a:ext cx="2371984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RESCUESLOT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87560" y="9309425"/>
            <a:ext cx="11099144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system rejects assignments that violate constraints.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479796" y="3098070"/>
            <a:ext cx="5939287" cy="1490221"/>
          </a:xfrm>
          <a:custGeom>
            <a:avLst/>
            <a:gdLst/>
            <a:ahLst/>
            <a:cxnLst/>
            <a:rect r="r" b="b" t="t" l="l"/>
            <a:pathLst>
              <a:path h="1490221" w="5939287">
                <a:moveTo>
                  <a:pt x="0" y="0"/>
                </a:moveTo>
                <a:lnTo>
                  <a:pt x="5939287" y="0"/>
                </a:lnTo>
                <a:lnTo>
                  <a:pt x="5939287" y="1490221"/>
                </a:lnTo>
                <a:lnTo>
                  <a:pt x="0" y="14902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569468" y="3300799"/>
            <a:ext cx="1127149" cy="1127149"/>
          </a:xfrm>
          <a:custGeom>
            <a:avLst/>
            <a:gdLst/>
            <a:ahLst/>
            <a:cxnLst/>
            <a:rect r="r" b="b" t="t" l="l"/>
            <a:pathLst>
              <a:path h="1127149" w="1127149">
                <a:moveTo>
                  <a:pt x="0" y="0"/>
                </a:moveTo>
                <a:lnTo>
                  <a:pt x="1127149" y="0"/>
                </a:lnTo>
                <a:lnTo>
                  <a:pt x="1127149" y="1127149"/>
                </a:lnTo>
                <a:lnTo>
                  <a:pt x="0" y="11271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277064" y="5075610"/>
            <a:ext cx="5926104" cy="1486913"/>
          </a:xfrm>
          <a:custGeom>
            <a:avLst/>
            <a:gdLst/>
            <a:ahLst/>
            <a:cxnLst/>
            <a:rect r="r" b="b" t="t" l="l"/>
            <a:pathLst>
              <a:path h="1486913" w="5926104">
                <a:moveTo>
                  <a:pt x="0" y="0"/>
                </a:moveTo>
                <a:lnTo>
                  <a:pt x="5926104" y="0"/>
                </a:lnTo>
                <a:lnTo>
                  <a:pt x="5926104" y="1486913"/>
                </a:lnTo>
                <a:lnTo>
                  <a:pt x="0" y="14869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87560" y="5396663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277064" y="7143548"/>
            <a:ext cx="5974781" cy="1499127"/>
          </a:xfrm>
          <a:custGeom>
            <a:avLst/>
            <a:gdLst/>
            <a:ahLst/>
            <a:cxnLst/>
            <a:rect r="r" b="b" t="t" l="l"/>
            <a:pathLst>
              <a:path h="1499127" w="5974781">
                <a:moveTo>
                  <a:pt x="0" y="0"/>
                </a:moveTo>
                <a:lnTo>
                  <a:pt x="5974780" y="0"/>
                </a:lnTo>
                <a:lnTo>
                  <a:pt x="5974780" y="1499127"/>
                </a:lnTo>
                <a:lnTo>
                  <a:pt x="0" y="14991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836236" y="7476815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13983" y="1200173"/>
            <a:ext cx="2986326" cy="85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8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Input Information</a:t>
            </a:r>
          </a:p>
          <a:p>
            <a:pPr algn="l">
              <a:lnSpc>
                <a:spcPts val="2142"/>
              </a:lnSpc>
            </a:pPr>
            <a:r>
              <a:rPr lang="en-US" sz="18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(Restaurants, Food Weight,</a:t>
            </a:r>
          </a:p>
          <a:p>
            <a:pPr algn="l">
              <a:lnSpc>
                <a:spcPts val="2142"/>
              </a:lnSpc>
            </a:pPr>
            <a:r>
              <a:rPr lang="en-US" sz="18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Pickup Time, Volunteers)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66990" y="1427075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55283" y="3616013"/>
            <a:ext cx="539316" cy="52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931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2.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53807" y="5634604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3.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02484" y="7714755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4.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72047" y="3299025"/>
            <a:ext cx="3145876" cy="8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9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CSP Solver</a:t>
            </a:r>
          </a:p>
          <a:p>
            <a:pPr algn="l">
              <a:lnSpc>
                <a:spcPts val="2256"/>
              </a:lnSpc>
            </a:pPr>
          </a:p>
          <a:p>
            <a:pPr algn="l">
              <a:lnSpc>
                <a:spcPts val="2256"/>
              </a:lnSpc>
            </a:pPr>
            <a:r>
              <a:rPr lang="en-US" sz="189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(Backtracking + MRV)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51822" y="5598776"/>
            <a:ext cx="2986326" cy="31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7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Constraint Checking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76725" y="7682794"/>
            <a:ext cx="3715946" cy="31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7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Valid Pickup Schedule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897474" y="5596459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47083" y="9235171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20320" y="4263279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5"/>
                </a:lnTo>
                <a:lnTo>
                  <a:pt x="0" y="53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32590" y="4161974"/>
            <a:ext cx="12724296" cy="2452654"/>
          </a:xfrm>
          <a:custGeom>
            <a:avLst/>
            <a:gdLst/>
            <a:ahLst/>
            <a:cxnLst/>
            <a:rect r="r" b="b" t="t" l="l"/>
            <a:pathLst>
              <a:path h="2452654" w="12724296">
                <a:moveTo>
                  <a:pt x="0" y="0"/>
                </a:moveTo>
                <a:lnTo>
                  <a:pt x="12724295" y="0"/>
                </a:lnTo>
                <a:lnTo>
                  <a:pt x="12724295" y="2452654"/>
                </a:lnTo>
                <a:lnTo>
                  <a:pt x="0" y="24526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86276" y="2027245"/>
            <a:ext cx="87154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PEAS DESCRIPTION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897474" y="5596459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47083" y="9235171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20320" y="4263279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5"/>
                </a:lnTo>
                <a:lnTo>
                  <a:pt x="0" y="53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96694" y="4184889"/>
            <a:ext cx="12694612" cy="1917222"/>
          </a:xfrm>
          <a:custGeom>
            <a:avLst/>
            <a:gdLst/>
            <a:ahLst/>
            <a:cxnLst/>
            <a:rect r="r" b="b" t="t" l="l"/>
            <a:pathLst>
              <a:path h="1917222" w="12694612">
                <a:moveTo>
                  <a:pt x="0" y="0"/>
                </a:moveTo>
                <a:lnTo>
                  <a:pt x="12694612" y="0"/>
                </a:lnTo>
                <a:lnTo>
                  <a:pt x="12694612" y="1917222"/>
                </a:lnTo>
                <a:lnTo>
                  <a:pt x="0" y="19172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53209" y="7246773"/>
            <a:ext cx="6565828" cy="1551749"/>
          </a:xfrm>
          <a:custGeom>
            <a:avLst/>
            <a:gdLst/>
            <a:ahLst/>
            <a:cxnLst/>
            <a:rect r="r" b="b" t="t" l="l"/>
            <a:pathLst>
              <a:path h="1551749" w="6565828">
                <a:moveTo>
                  <a:pt x="0" y="0"/>
                </a:moveTo>
                <a:lnTo>
                  <a:pt x="6565828" y="0"/>
                </a:lnTo>
                <a:lnTo>
                  <a:pt x="6565828" y="1551749"/>
                </a:lnTo>
                <a:lnTo>
                  <a:pt x="0" y="15517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558" t="-296157" r="-51698" b="-726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86276" y="2027245"/>
            <a:ext cx="87154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ESTING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22185" y="3512455"/>
            <a:ext cx="5728281" cy="75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  <a:r>
              <a:rPr lang="en-US" sz="18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YSTEM EVALUATION</a:t>
            </a:r>
          </a:p>
          <a:p>
            <a:pPr algn="l">
              <a:lnSpc>
                <a:spcPts val="1842"/>
              </a:lnSpc>
            </a:pPr>
            <a:r>
              <a:rPr lang="en-US" sz="18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THREE SCENARIOS WERE TESTED.</a:t>
            </a:r>
          </a:p>
          <a:p>
            <a:pPr algn="l">
              <a:lnSpc>
                <a:spcPts val="184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673687" y="6764994"/>
            <a:ext cx="3062436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86DAFF"/>
                </a:solidFill>
                <a:latin typeface="Agrandir"/>
                <a:ea typeface="Agrandir"/>
                <a:cs typeface="Agrandir"/>
                <a:sym typeface="Agrandir"/>
              </a:rPr>
              <a:t>Example successful output: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99742" y="7796907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09455" y="-277791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6653" y="3188359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6" y="0"/>
                </a:lnTo>
                <a:lnTo>
                  <a:pt x="530146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6653" y="6317556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6" y="0"/>
                </a:lnTo>
                <a:lnTo>
                  <a:pt x="530146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8243" y="341202"/>
            <a:ext cx="13981603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LIMITATIONS &amp; FUTURE IMPROVEMENT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10334" y="3158827"/>
            <a:ext cx="4626335" cy="50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Current 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6799" y="3605162"/>
            <a:ext cx="7051972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</a:p>
          <a:p>
            <a:pPr algn="l" marL="431799" indent="-215899" lvl="1">
              <a:lnSpc>
                <a:spcPts val="2379"/>
              </a:lnSpc>
              <a:buFont typeface="Arial"/>
              <a:buChar char="•"/>
            </a:pPr>
            <a:r>
              <a:rPr lang="en-US" sz="19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Uses simulated data instead of real food rescue data</a:t>
            </a:r>
          </a:p>
          <a:p>
            <a:pPr algn="l" marL="431799" indent="-215899" lvl="1">
              <a:lnSpc>
                <a:spcPts val="2379"/>
              </a:lnSpc>
              <a:buFont typeface="Arial"/>
              <a:buChar char="•"/>
            </a:pPr>
            <a:r>
              <a:rPr lang="en-US" sz="19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Does not include GPS/location optimisation</a:t>
            </a:r>
          </a:p>
          <a:p>
            <a:pPr algn="l" marL="431799" indent="-215899" lvl="1">
              <a:lnSpc>
                <a:spcPts val="2379"/>
              </a:lnSpc>
              <a:buFont typeface="Arial"/>
              <a:buChar char="•"/>
            </a:pPr>
            <a:r>
              <a:rPr lang="en-US" sz="19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Volunteer information is entered manually</a:t>
            </a: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210334" y="6288024"/>
            <a:ext cx="5465409" cy="50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Improvements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0334" y="6899852"/>
            <a:ext cx="7051972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379"/>
              </a:lnSpc>
              <a:buFont typeface="Arial"/>
              <a:buChar char="•"/>
            </a:pPr>
            <a:r>
              <a:rPr lang="en-US" sz="19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Real-time volunteer availability updates</a:t>
            </a:r>
          </a:p>
          <a:p>
            <a:pPr algn="l" marL="431799" indent="-215899" lvl="1">
              <a:lnSpc>
                <a:spcPts val="2379"/>
              </a:lnSpc>
              <a:buFont typeface="Arial"/>
              <a:buChar char="•"/>
            </a:pPr>
            <a:r>
              <a:rPr lang="en-US" sz="19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Map and distance optimisation</a:t>
            </a:r>
          </a:p>
          <a:p>
            <a:pPr algn="l" marL="431799" indent="-215899" lvl="1">
              <a:lnSpc>
                <a:spcPts val="2379"/>
              </a:lnSpc>
              <a:buFont typeface="Arial"/>
              <a:buChar char="•"/>
            </a:pPr>
            <a:r>
              <a:rPr lang="en-US" sz="19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Mobile application integration</a:t>
            </a:r>
          </a:p>
          <a:p>
            <a:pPr algn="l">
              <a:lnSpc>
                <a:spcPts val="23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9940" y="361255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462421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10139" y="8233932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7392" y="1183388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</a:t>
            </a: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172" y="428778"/>
            <a:ext cx="3344548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RESCUESLOT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96543" y="3759803"/>
            <a:ext cx="14175235" cy="3556695"/>
          </a:xfrm>
          <a:custGeom>
            <a:avLst/>
            <a:gdLst/>
            <a:ahLst/>
            <a:cxnLst/>
            <a:rect r="r" b="b" t="t" l="l"/>
            <a:pathLst>
              <a:path h="3556695" w="14175235">
                <a:moveTo>
                  <a:pt x="0" y="0"/>
                </a:moveTo>
                <a:lnTo>
                  <a:pt x="14175235" y="0"/>
                </a:lnTo>
                <a:lnTo>
                  <a:pt x="14175235" y="3556695"/>
                </a:lnTo>
                <a:lnTo>
                  <a:pt x="0" y="35566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91709" y="6808122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2.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471103" y="2466296"/>
            <a:ext cx="3304503" cy="5354408"/>
            <a:chOff x="0" y="0"/>
            <a:chExt cx="484144" cy="7844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4144" cy="784476"/>
            </a:xfrm>
            <a:custGeom>
              <a:avLst/>
              <a:gdLst/>
              <a:ahLst/>
              <a:cxnLst/>
              <a:rect r="r" b="b" t="t" l="l"/>
              <a:pathLst>
                <a:path h="784476" w="484144">
                  <a:moveTo>
                    <a:pt x="53885" y="0"/>
                  </a:moveTo>
                  <a:lnTo>
                    <a:pt x="430258" y="0"/>
                  </a:lnTo>
                  <a:cubicBezTo>
                    <a:pt x="460018" y="0"/>
                    <a:pt x="484144" y="24125"/>
                    <a:pt x="484144" y="53885"/>
                  </a:cubicBezTo>
                  <a:lnTo>
                    <a:pt x="484144" y="730590"/>
                  </a:lnTo>
                  <a:cubicBezTo>
                    <a:pt x="484144" y="744882"/>
                    <a:pt x="478466" y="758588"/>
                    <a:pt x="468361" y="768693"/>
                  </a:cubicBezTo>
                  <a:cubicBezTo>
                    <a:pt x="458255" y="778799"/>
                    <a:pt x="444549" y="784476"/>
                    <a:pt x="430258" y="784476"/>
                  </a:cubicBezTo>
                  <a:lnTo>
                    <a:pt x="53885" y="784476"/>
                  </a:lnTo>
                  <a:cubicBezTo>
                    <a:pt x="39594" y="784476"/>
                    <a:pt x="25888" y="778799"/>
                    <a:pt x="15783" y="768693"/>
                  </a:cubicBezTo>
                  <a:cubicBezTo>
                    <a:pt x="5677" y="758588"/>
                    <a:pt x="0" y="744882"/>
                    <a:pt x="0" y="730590"/>
                  </a:cubicBezTo>
                  <a:lnTo>
                    <a:pt x="0" y="53885"/>
                  </a:lnTo>
                  <a:cubicBezTo>
                    <a:pt x="0" y="39594"/>
                    <a:pt x="5677" y="25888"/>
                    <a:pt x="15783" y="15783"/>
                  </a:cubicBezTo>
                  <a:cubicBezTo>
                    <a:pt x="25888" y="5677"/>
                    <a:pt x="39594" y="0"/>
                    <a:pt x="53885" y="0"/>
                  </a:cubicBezTo>
                  <a:close/>
                </a:path>
              </a:pathLst>
            </a:custGeom>
            <a:blipFill>
              <a:blip r:embed="rId10"/>
              <a:stretch>
                <a:fillRect l="-71487" t="0" r="-71487" b="0"/>
              </a:stretch>
            </a:blipFill>
            <a:ln w="76200" cap="rnd">
              <a:gradFill>
                <a:gsLst>
                  <a:gs pos="0">
                    <a:srgbClr val="22588D">
                      <a:alpha val="100000"/>
                    </a:srgbClr>
                  </a:gs>
                  <a:gs pos="100000">
                    <a:srgbClr val="58A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3978692" y="-10287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978692" y="7342958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32443" y="4433523"/>
            <a:ext cx="10717264" cy="194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RESCUESLOT DEMONSTRATES HOW ARTIFICIAL INTELLIGENCE CAN BE APPLIED TO SOLVE REAL-WORLD SCHEDULING PROBLEMS.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BY USING CSP, BACKTRACKING SEARCH AND MRV HEURISTIC, THE SYSTEM CAN GENERATE SUITABLE VOLUNTEER ASSIGNMENTS WHILE CONSIDERING IMPORTANT CONSTRAINTS.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PROJECT SHOWS HOW AI CAN SUPPORT MORE EFFICIENT FOOD RESCUE OPERATIONS.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839" y="2792476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65257"/>
            <a:ext cx="10675733" cy="106757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65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2198" y="826941"/>
            <a:ext cx="8891337" cy="8891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9000"/>
                  </a:srgbClr>
                </a:gs>
                <a:gs pos="100000">
                  <a:srgbClr val="FFFFFF">
                    <a:alpha val="4602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76466" y="1711209"/>
            <a:ext cx="7122801" cy="71228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solidFill>
              <a:srgbClr val="2258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63148" y="4278774"/>
            <a:ext cx="5149438" cy="143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10633">
                <a:solidFill>
                  <a:srgbClr val="3584D0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53114" y="5636633"/>
            <a:ext cx="3769504" cy="143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10633">
                <a:solidFill>
                  <a:srgbClr val="22588D"/>
                </a:solidFill>
                <a:latin typeface="Anton"/>
                <a:ea typeface="Anton"/>
                <a:cs typeface="Anton"/>
                <a:sym typeface="Anton"/>
              </a:rPr>
              <a:t>YOU.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301769" y="2673434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62710" y="2818005"/>
            <a:ext cx="2222877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RESCUESLOT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DAHSiz0Gx1I</dc:identifier>
  <dcterms:modified xsi:type="dcterms:W3CDTF">2011-08-01T06:04:30Z</dcterms:modified>
  <cp:revision>1</cp:revision>
  <dc:title>Intelligent Food Rescue Pickup Scheduler</dc:title>
</cp:coreProperties>
</file>